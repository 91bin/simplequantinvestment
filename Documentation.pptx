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98" r:id="rId3"/>
    <p:sldId id="307" r:id="rId4"/>
    <p:sldId id="299" r:id="rId5"/>
    <p:sldId id="300" r:id="rId6"/>
    <p:sldId id="308" r:id="rId7"/>
    <p:sldId id="258" r:id="rId8"/>
    <p:sldId id="301" r:id="rId9"/>
    <p:sldId id="303" r:id="rId10"/>
    <p:sldId id="304" r:id="rId11"/>
    <p:sldId id="305" r:id="rId12"/>
    <p:sldId id="30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DE1D5-F0E8-441E-8991-C665177EB8A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415E53B-52B0-4367-BB8F-56BB92B23ABB}">
      <dgm:prSet/>
      <dgm:spPr/>
      <dgm:t>
        <a:bodyPr/>
        <a:lstStyle/>
        <a:p>
          <a:r>
            <a:rPr lang="en-US"/>
            <a:t>create_mapper: CIK, ticker mapper </a:t>
          </a:r>
          <a:r>
            <a:rPr lang="ko-KR"/>
            <a:t>생성</a:t>
          </a:r>
          <a:endParaRPr lang="en-US"/>
        </a:p>
      </dgm:t>
    </dgm:pt>
    <dgm:pt modelId="{4C1026E5-1FDC-4392-9829-580FC27BA294}" type="parTrans" cxnId="{E6387691-EFCA-4BA3-BF39-46EF9DBDAF20}">
      <dgm:prSet/>
      <dgm:spPr/>
      <dgm:t>
        <a:bodyPr/>
        <a:lstStyle/>
        <a:p>
          <a:endParaRPr lang="en-US"/>
        </a:p>
      </dgm:t>
    </dgm:pt>
    <dgm:pt modelId="{301F7A6A-625C-4302-90DB-F4B865F936A2}" type="sibTrans" cxnId="{E6387691-EFCA-4BA3-BF39-46EF9DBDAF20}">
      <dgm:prSet/>
      <dgm:spPr/>
      <dgm:t>
        <a:bodyPr/>
        <a:lstStyle/>
        <a:p>
          <a:endParaRPr lang="en-US"/>
        </a:p>
      </dgm:t>
    </dgm:pt>
    <dgm:pt modelId="{C28D3726-B78F-46C7-893C-9282A007B28C}">
      <dgm:prSet/>
      <dgm:spPr/>
      <dgm:t>
        <a:bodyPr/>
        <a:lstStyle/>
        <a:p>
          <a:r>
            <a:rPr lang="en-US"/>
            <a:t>collect_financial_data: </a:t>
          </a:r>
          <a:r>
            <a:rPr lang="ko-KR"/>
            <a:t>재무 정보 정리</a:t>
          </a:r>
          <a:endParaRPr lang="en-US"/>
        </a:p>
      </dgm:t>
    </dgm:pt>
    <dgm:pt modelId="{7D6AA88E-031F-4EF1-B9FB-18C9E84A2986}" type="parTrans" cxnId="{0055BDBE-384B-4591-B755-28C882D4E3A9}">
      <dgm:prSet/>
      <dgm:spPr/>
      <dgm:t>
        <a:bodyPr/>
        <a:lstStyle/>
        <a:p>
          <a:endParaRPr lang="en-US"/>
        </a:p>
      </dgm:t>
    </dgm:pt>
    <dgm:pt modelId="{24F7CEDA-9BAA-4153-B959-0CDFB2F6FD03}" type="sibTrans" cxnId="{0055BDBE-384B-4591-B755-28C882D4E3A9}">
      <dgm:prSet/>
      <dgm:spPr/>
      <dgm:t>
        <a:bodyPr/>
        <a:lstStyle/>
        <a:p>
          <a:endParaRPr lang="en-US"/>
        </a:p>
      </dgm:t>
    </dgm:pt>
    <dgm:pt modelId="{8F352E1A-B7AF-4020-BB05-42D06D0C94F3}">
      <dgm:prSet/>
      <dgm:spPr/>
      <dgm:t>
        <a:bodyPr/>
        <a:lstStyle/>
        <a:p>
          <a:r>
            <a:rPr lang="en-US"/>
            <a:t>collect_price_and_volume: </a:t>
          </a:r>
          <a:r>
            <a:rPr lang="ko-KR"/>
            <a:t>가격</a:t>
          </a:r>
          <a:r>
            <a:rPr lang="en-US"/>
            <a:t>, </a:t>
          </a:r>
          <a:r>
            <a:rPr lang="ko-KR"/>
            <a:t>거래량 정보 수집</a:t>
          </a:r>
          <a:endParaRPr lang="en-US"/>
        </a:p>
      </dgm:t>
    </dgm:pt>
    <dgm:pt modelId="{A047370E-A937-4CD2-9FAE-CF1D22B7DAA1}" type="parTrans" cxnId="{989B3739-11AF-4896-A826-D1D0FFDC8C07}">
      <dgm:prSet/>
      <dgm:spPr/>
      <dgm:t>
        <a:bodyPr/>
        <a:lstStyle/>
        <a:p>
          <a:endParaRPr lang="en-US"/>
        </a:p>
      </dgm:t>
    </dgm:pt>
    <dgm:pt modelId="{4F13592B-15C8-4746-8828-ADA6B8AECEC8}" type="sibTrans" cxnId="{989B3739-11AF-4896-A826-D1D0FFDC8C07}">
      <dgm:prSet/>
      <dgm:spPr/>
      <dgm:t>
        <a:bodyPr/>
        <a:lstStyle/>
        <a:p>
          <a:endParaRPr lang="en-US"/>
        </a:p>
      </dgm:t>
    </dgm:pt>
    <dgm:pt modelId="{9C72C41C-38FE-4B7A-AAC9-3E622111E045}">
      <dgm:prSet/>
      <dgm:spPr/>
      <dgm:t>
        <a:bodyPr/>
        <a:lstStyle/>
        <a:p>
          <a:r>
            <a:rPr lang="en-US"/>
            <a:t>concat_info: </a:t>
          </a:r>
          <a:r>
            <a:rPr lang="ko-KR"/>
            <a:t>가격과 재무 정보 날짜에 맞게 결합</a:t>
          </a:r>
          <a:endParaRPr lang="en-US"/>
        </a:p>
      </dgm:t>
    </dgm:pt>
    <dgm:pt modelId="{6122B33F-874A-4BF5-8550-29EC24154E43}" type="parTrans" cxnId="{F49FD960-4250-47AD-A5CC-9251D11A0148}">
      <dgm:prSet/>
      <dgm:spPr/>
      <dgm:t>
        <a:bodyPr/>
        <a:lstStyle/>
        <a:p>
          <a:endParaRPr lang="en-US"/>
        </a:p>
      </dgm:t>
    </dgm:pt>
    <dgm:pt modelId="{75047815-ACBD-420E-B29F-ACB0C92C0A40}" type="sibTrans" cxnId="{F49FD960-4250-47AD-A5CC-9251D11A0148}">
      <dgm:prSet/>
      <dgm:spPr/>
      <dgm:t>
        <a:bodyPr/>
        <a:lstStyle/>
        <a:p>
          <a:endParaRPr lang="en-US"/>
        </a:p>
      </dgm:t>
    </dgm:pt>
    <dgm:pt modelId="{DB3F2657-8360-45D1-939A-DCB8055311D1}">
      <dgm:prSet/>
      <dgm:spPr/>
      <dgm:t>
        <a:bodyPr/>
        <a:lstStyle/>
        <a:p>
          <a:r>
            <a:rPr lang="en-US"/>
            <a:t>make_simple_portfolio: </a:t>
          </a:r>
          <a:r>
            <a:rPr lang="ko-KR"/>
            <a:t>결합된 데이터를 바탕으로 간단한 </a:t>
          </a:r>
          <a:r>
            <a:rPr lang="en-US"/>
            <a:t>factor</a:t>
          </a:r>
          <a:r>
            <a:rPr lang="ko-KR"/>
            <a:t>에 기반한 포토폴리오 생성</a:t>
          </a:r>
          <a:endParaRPr lang="en-US"/>
        </a:p>
      </dgm:t>
    </dgm:pt>
    <dgm:pt modelId="{33F1C55B-4A41-4AB4-A657-07AE0A6E267A}" type="parTrans" cxnId="{964A74D0-3D84-4253-A68A-1FA3B9426F7E}">
      <dgm:prSet/>
      <dgm:spPr/>
      <dgm:t>
        <a:bodyPr/>
        <a:lstStyle/>
        <a:p>
          <a:endParaRPr lang="en-US"/>
        </a:p>
      </dgm:t>
    </dgm:pt>
    <dgm:pt modelId="{516C0A23-F14D-4B96-A715-A61F12D5D6E2}" type="sibTrans" cxnId="{964A74D0-3D84-4253-A68A-1FA3B9426F7E}">
      <dgm:prSet/>
      <dgm:spPr/>
      <dgm:t>
        <a:bodyPr/>
        <a:lstStyle/>
        <a:p>
          <a:endParaRPr lang="en-US"/>
        </a:p>
      </dgm:t>
    </dgm:pt>
    <dgm:pt modelId="{5D119D24-5F86-4EC8-A534-A400E6F1387D}" type="pres">
      <dgm:prSet presAssocID="{8D1DE1D5-F0E8-441E-8991-C665177EB8AF}" presName="vert0" presStyleCnt="0">
        <dgm:presLayoutVars>
          <dgm:dir/>
          <dgm:animOne val="branch"/>
          <dgm:animLvl val="lvl"/>
        </dgm:presLayoutVars>
      </dgm:prSet>
      <dgm:spPr/>
    </dgm:pt>
    <dgm:pt modelId="{8A223768-43E0-4DC4-8E73-18D0231ADA56}" type="pres">
      <dgm:prSet presAssocID="{C415E53B-52B0-4367-BB8F-56BB92B23ABB}" presName="thickLine" presStyleLbl="alignNode1" presStyleIdx="0" presStyleCnt="5"/>
      <dgm:spPr/>
    </dgm:pt>
    <dgm:pt modelId="{0E128CF0-31F8-48A9-AFF7-77670F6C5D47}" type="pres">
      <dgm:prSet presAssocID="{C415E53B-52B0-4367-BB8F-56BB92B23ABB}" presName="horz1" presStyleCnt="0"/>
      <dgm:spPr/>
    </dgm:pt>
    <dgm:pt modelId="{9F2173BF-262B-4E86-8701-8B3EE3EF977A}" type="pres">
      <dgm:prSet presAssocID="{C415E53B-52B0-4367-BB8F-56BB92B23ABB}" presName="tx1" presStyleLbl="revTx" presStyleIdx="0" presStyleCnt="5"/>
      <dgm:spPr/>
    </dgm:pt>
    <dgm:pt modelId="{FCF359FA-04BA-4A06-BFA6-120D358DFA8E}" type="pres">
      <dgm:prSet presAssocID="{C415E53B-52B0-4367-BB8F-56BB92B23ABB}" presName="vert1" presStyleCnt="0"/>
      <dgm:spPr/>
    </dgm:pt>
    <dgm:pt modelId="{954C701B-E96D-4C34-96B3-EECBED5A87F5}" type="pres">
      <dgm:prSet presAssocID="{C28D3726-B78F-46C7-893C-9282A007B28C}" presName="thickLine" presStyleLbl="alignNode1" presStyleIdx="1" presStyleCnt="5"/>
      <dgm:spPr/>
    </dgm:pt>
    <dgm:pt modelId="{12A4CF4E-1D36-43B8-B9E5-829C223A069F}" type="pres">
      <dgm:prSet presAssocID="{C28D3726-B78F-46C7-893C-9282A007B28C}" presName="horz1" presStyleCnt="0"/>
      <dgm:spPr/>
    </dgm:pt>
    <dgm:pt modelId="{DED4E5B9-25C3-40CF-82DA-51A3F08CBF62}" type="pres">
      <dgm:prSet presAssocID="{C28D3726-B78F-46C7-893C-9282A007B28C}" presName="tx1" presStyleLbl="revTx" presStyleIdx="1" presStyleCnt="5"/>
      <dgm:spPr/>
    </dgm:pt>
    <dgm:pt modelId="{A74839DA-7581-46E4-9451-540EDAE5B067}" type="pres">
      <dgm:prSet presAssocID="{C28D3726-B78F-46C7-893C-9282A007B28C}" presName="vert1" presStyleCnt="0"/>
      <dgm:spPr/>
    </dgm:pt>
    <dgm:pt modelId="{0F1A2681-DAC9-45A6-B722-13B644D8EF23}" type="pres">
      <dgm:prSet presAssocID="{8F352E1A-B7AF-4020-BB05-42D06D0C94F3}" presName="thickLine" presStyleLbl="alignNode1" presStyleIdx="2" presStyleCnt="5"/>
      <dgm:spPr/>
    </dgm:pt>
    <dgm:pt modelId="{974C7B9C-0405-4A6A-BDF1-A5599E107F38}" type="pres">
      <dgm:prSet presAssocID="{8F352E1A-B7AF-4020-BB05-42D06D0C94F3}" presName="horz1" presStyleCnt="0"/>
      <dgm:spPr/>
    </dgm:pt>
    <dgm:pt modelId="{54EE08CB-EF22-4416-9B8E-89369100A554}" type="pres">
      <dgm:prSet presAssocID="{8F352E1A-B7AF-4020-BB05-42D06D0C94F3}" presName="tx1" presStyleLbl="revTx" presStyleIdx="2" presStyleCnt="5"/>
      <dgm:spPr/>
    </dgm:pt>
    <dgm:pt modelId="{3C0784AD-475B-4240-923F-B50714351C78}" type="pres">
      <dgm:prSet presAssocID="{8F352E1A-B7AF-4020-BB05-42D06D0C94F3}" presName="vert1" presStyleCnt="0"/>
      <dgm:spPr/>
    </dgm:pt>
    <dgm:pt modelId="{58B1E48B-846B-4213-8B92-A169E7D1D1CF}" type="pres">
      <dgm:prSet presAssocID="{9C72C41C-38FE-4B7A-AAC9-3E622111E045}" presName="thickLine" presStyleLbl="alignNode1" presStyleIdx="3" presStyleCnt="5"/>
      <dgm:spPr/>
    </dgm:pt>
    <dgm:pt modelId="{F651553E-07BC-4179-A635-454C1AF8350E}" type="pres">
      <dgm:prSet presAssocID="{9C72C41C-38FE-4B7A-AAC9-3E622111E045}" presName="horz1" presStyleCnt="0"/>
      <dgm:spPr/>
    </dgm:pt>
    <dgm:pt modelId="{449CC9AC-6407-4292-A7F8-5BFB95664061}" type="pres">
      <dgm:prSet presAssocID="{9C72C41C-38FE-4B7A-AAC9-3E622111E045}" presName="tx1" presStyleLbl="revTx" presStyleIdx="3" presStyleCnt="5"/>
      <dgm:spPr/>
    </dgm:pt>
    <dgm:pt modelId="{4AB9B6E2-F99C-4D46-94A9-67502A32F9BD}" type="pres">
      <dgm:prSet presAssocID="{9C72C41C-38FE-4B7A-AAC9-3E622111E045}" presName="vert1" presStyleCnt="0"/>
      <dgm:spPr/>
    </dgm:pt>
    <dgm:pt modelId="{53029FE6-1926-4512-BDE7-931564D185E9}" type="pres">
      <dgm:prSet presAssocID="{DB3F2657-8360-45D1-939A-DCB8055311D1}" presName="thickLine" presStyleLbl="alignNode1" presStyleIdx="4" presStyleCnt="5"/>
      <dgm:spPr/>
    </dgm:pt>
    <dgm:pt modelId="{8BC09034-B3F2-494C-9102-7CCEA1F45889}" type="pres">
      <dgm:prSet presAssocID="{DB3F2657-8360-45D1-939A-DCB8055311D1}" presName="horz1" presStyleCnt="0"/>
      <dgm:spPr/>
    </dgm:pt>
    <dgm:pt modelId="{D972C9B3-670C-4274-BF11-63C74A9258FB}" type="pres">
      <dgm:prSet presAssocID="{DB3F2657-8360-45D1-939A-DCB8055311D1}" presName="tx1" presStyleLbl="revTx" presStyleIdx="4" presStyleCnt="5"/>
      <dgm:spPr/>
    </dgm:pt>
    <dgm:pt modelId="{0065CFEC-B63F-48B9-B2BF-9DA1F73487C9}" type="pres">
      <dgm:prSet presAssocID="{DB3F2657-8360-45D1-939A-DCB8055311D1}" presName="vert1" presStyleCnt="0"/>
      <dgm:spPr/>
    </dgm:pt>
  </dgm:ptLst>
  <dgm:cxnLst>
    <dgm:cxn modelId="{989B3739-11AF-4896-A826-D1D0FFDC8C07}" srcId="{8D1DE1D5-F0E8-441E-8991-C665177EB8AF}" destId="{8F352E1A-B7AF-4020-BB05-42D06D0C94F3}" srcOrd="2" destOrd="0" parTransId="{A047370E-A937-4CD2-9FAE-CF1D22B7DAA1}" sibTransId="{4F13592B-15C8-4746-8828-ADA6B8AECEC8}"/>
    <dgm:cxn modelId="{798F1C3E-AFE8-41BA-B295-A8DE5D405AE8}" type="presOf" srcId="{C28D3726-B78F-46C7-893C-9282A007B28C}" destId="{DED4E5B9-25C3-40CF-82DA-51A3F08CBF62}" srcOrd="0" destOrd="0" presId="urn:microsoft.com/office/officeart/2008/layout/LinedList"/>
    <dgm:cxn modelId="{F49FD960-4250-47AD-A5CC-9251D11A0148}" srcId="{8D1DE1D5-F0E8-441E-8991-C665177EB8AF}" destId="{9C72C41C-38FE-4B7A-AAC9-3E622111E045}" srcOrd="3" destOrd="0" parTransId="{6122B33F-874A-4BF5-8550-29EC24154E43}" sibTransId="{75047815-ACBD-420E-B29F-ACB0C92C0A40}"/>
    <dgm:cxn modelId="{9A2CFE7B-F3AE-4C5A-B878-48F71D16954F}" type="presOf" srcId="{DB3F2657-8360-45D1-939A-DCB8055311D1}" destId="{D972C9B3-670C-4274-BF11-63C74A9258FB}" srcOrd="0" destOrd="0" presId="urn:microsoft.com/office/officeart/2008/layout/LinedList"/>
    <dgm:cxn modelId="{E6387691-EFCA-4BA3-BF39-46EF9DBDAF20}" srcId="{8D1DE1D5-F0E8-441E-8991-C665177EB8AF}" destId="{C415E53B-52B0-4367-BB8F-56BB92B23ABB}" srcOrd="0" destOrd="0" parTransId="{4C1026E5-1FDC-4392-9829-580FC27BA294}" sibTransId="{301F7A6A-625C-4302-90DB-F4B865F936A2}"/>
    <dgm:cxn modelId="{71ABC195-A9BE-4104-B349-5676B4451E06}" type="presOf" srcId="{C415E53B-52B0-4367-BB8F-56BB92B23ABB}" destId="{9F2173BF-262B-4E86-8701-8B3EE3EF977A}" srcOrd="0" destOrd="0" presId="urn:microsoft.com/office/officeart/2008/layout/LinedList"/>
    <dgm:cxn modelId="{0055BDBE-384B-4591-B755-28C882D4E3A9}" srcId="{8D1DE1D5-F0E8-441E-8991-C665177EB8AF}" destId="{C28D3726-B78F-46C7-893C-9282A007B28C}" srcOrd="1" destOrd="0" parTransId="{7D6AA88E-031F-4EF1-B9FB-18C9E84A2986}" sibTransId="{24F7CEDA-9BAA-4153-B959-0CDFB2F6FD03}"/>
    <dgm:cxn modelId="{D64E80C0-FFB8-4A75-83F5-939FE0BCC2F7}" type="presOf" srcId="{8D1DE1D5-F0E8-441E-8991-C665177EB8AF}" destId="{5D119D24-5F86-4EC8-A534-A400E6F1387D}" srcOrd="0" destOrd="0" presId="urn:microsoft.com/office/officeart/2008/layout/LinedList"/>
    <dgm:cxn modelId="{FCE46CCD-5A92-42ED-A88E-5D067E59656C}" type="presOf" srcId="{8F352E1A-B7AF-4020-BB05-42D06D0C94F3}" destId="{54EE08CB-EF22-4416-9B8E-89369100A554}" srcOrd="0" destOrd="0" presId="urn:microsoft.com/office/officeart/2008/layout/LinedList"/>
    <dgm:cxn modelId="{964A74D0-3D84-4253-A68A-1FA3B9426F7E}" srcId="{8D1DE1D5-F0E8-441E-8991-C665177EB8AF}" destId="{DB3F2657-8360-45D1-939A-DCB8055311D1}" srcOrd="4" destOrd="0" parTransId="{33F1C55B-4A41-4AB4-A657-07AE0A6E267A}" sibTransId="{516C0A23-F14D-4B96-A715-A61F12D5D6E2}"/>
    <dgm:cxn modelId="{C9B78BE6-396C-4F0F-B4DA-38B9DD402048}" type="presOf" srcId="{9C72C41C-38FE-4B7A-AAC9-3E622111E045}" destId="{449CC9AC-6407-4292-A7F8-5BFB95664061}" srcOrd="0" destOrd="0" presId="urn:microsoft.com/office/officeart/2008/layout/LinedList"/>
    <dgm:cxn modelId="{3B4B4E60-1F3E-4572-A258-A44743FAE156}" type="presParOf" srcId="{5D119D24-5F86-4EC8-A534-A400E6F1387D}" destId="{8A223768-43E0-4DC4-8E73-18D0231ADA56}" srcOrd="0" destOrd="0" presId="urn:microsoft.com/office/officeart/2008/layout/LinedList"/>
    <dgm:cxn modelId="{C35B28DB-C0A5-4BC7-9CEE-56CF64D5C4E9}" type="presParOf" srcId="{5D119D24-5F86-4EC8-A534-A400E6F1387D}" destId="{0E128CF0-31F8-48A9-AFF7-77670F6C5D47}" srcOrd="1" destOrd="0" presId="urn:microsoft.com/office/officeart/2008/layout/LinedList"/>
    <dgm:cxn modelId="{15ACA32A-26F5-4746-A930-DEF2EF9D7FF3}" type="presParOf" srcId="{0E128CF0-31F8-48A9-AFF7-77670F6C5D47}" destId="{9F2173BF-262B-4E86-8701-8B3EE3EF977A}" srcOrd="0" destOrd="0" presId="urn:microsoft.com/office/officeart/2008/layout/LinedList"/>
    <dgm:cxn modelId="{5256998C-1CA2-435D-B143-31FF29F43DC5}" type="presParOf" srcId="{0E128CF0-31F8-48A9-AFF7-77670F6C5D47}" destId="{FCF359FA-04BA-4A06-BFA6-120D358DFA8E}" srcOrd="1" destOrd="0" presId="urn:microsoft.com/office/officeart/2008/layout/LinedList"/>
    <dgm:cxn modelId="{90A884D4-6818-410C-AF0F-91FB9DE53089}" type="presParOf" srcId="{5D119D24-5F86-4EC8-A534-A400E6F1387D}" destId="{954C701B-E96D-4C34-96B3-EECBED5A87F5}" srcOrd="2" destOrd="0" presId="urn:microsoft.com/office/officeart/2008/layout/LinedList"/>
    <dgm:cxn modelId="{A79E8A0C-563C-4C4D-B963-D845DD057E7B}" type="presParOf" srcId="{5D119D24-5F86-4EC8-A534-A400E6F1387D}" destId="{12A4CF4E-1D36-43B8-B9E5-829C223A069F}" srcOrd="3" destOrd="0" presId="urn:microsoft.com/office/officeart/2008/layout/LinedList"/>
    <dgm:cxn modelId="{54C12A9C-A2C5-486A-B3B4-82103847D6CD}" type="presParOf" srcId="{12A4CF4E-1D36-43B8-B9E5-829C223A069F}" destId="{DED4E5B9-25C3-40CF-82DA-51A3F08CBF62}" srcOrd="0" destOrd="0" presId="urn:microsoft.com/office/officeart/2008/layout/LinedList"/>
    <dgm:cxn modelId="{EC822072-3E6B-45DA-9883-15BCCA2B87C3}" type="presParOf" srcId="{12A4CF4E-1D36-43B8-B9E5-829C223A069F}" destId="{A74839DA-7581-46E4-9451-540EDAE5B067}" srcOrd="1" destOrd="0" presId="urn:microsoft.com/office/officeart/2008/layout/LinedList"/>
    <dgm:cxn modelId="{73FFB2CE-5419-4330-BFF5-6AFAAE362C53}" type="presParOf" srcId="{5D119D24-5F86-4EC8-A534-A400E6F1387D}" destId="{0F1A2681-DAC9-45A6-B722-13B644D8EF23}" srcOrd="4" destOrd="0" presId="urn:microsoft.com/office/officeart/2008/layout/LinedList"/>
    <dgm:cxn modelId="{539D3BF3-A953-4105-99B9-8A33DC8F3AE2}" type="presParOf" srcId="{5D119D24-5F86-4EC8-A534-A400E6F1387D}" destId="{974C7B9C-0405-4A6A-BDF1-A5599E107F38}" srcOrd="5" destOrd="0" presId="urn:microsoft.com/office/officeart/2008/layout/LinedList"/>
    <dgm:cxn modelId="{E0944B74-425F-409F-A422-BB20AEB15070}" type="presParOf" srcId="{974C7B9C-0405-4A6A-BDF1-A5599E107F38}" destId="{54EE08CB-EF22-4416-9B8E-89369100A554}" srcOrd="0" destOrd="0" presId="urn:microsoft.com/office/officeart/2008/layout/LinedList"/>
    <dgm:cxn modelId="{C614A795-E5BB-42B0-AF29-501B86FA3721}" type="presParOf" srcId="{974C7B9C-0405-4A6A-BDF1-A5599E107F38}" destId="{3C0784AD-475B-4240-923F-B50714351C78}" srcOrd="1" destOrd="0" presId="urn:microsoft.com/office/officeart/2008/layout/LinedList"/>
    <dgm:cxn modelId="{7E76BB1E-9F25-49A1-AB03-51FF8268C59A}" type="presParOf" srcId="{5D119D24-5F86-4EC8-A534-A400E6F1387D}" destId="{58B1E48B-846B-4213-8B92-A169E7D1D1CF}" srcOrd="6" destOrd="0" presId="urn:microsoft.com/office/officeart/2008/layout/LinedList"/>
    <dgm:cxn modelId="{26DF5C8F-25F8-418A-BB96-02387C0E9983}" type="presParOf" srcId="{5D119D24-5F86-4EC8-A534-A400E6F1387D}" destId="{F651553E-07BC-4179-A635-454C1AF8350E}" srcOrd="7" destOrd="0" presId="urn:microsoft.com/office/officeart/2008/layout/LinedList"/>
    <dgm:cxn modelId="{D38D8CD1-99F2-42D6-89D6-58B6300257A9}" type="presParOf" srcId="{F651553E-07BC-4179-A635-454C1AF8350E}" destId="{449CC9AC-6407-4292-A7F8-5BFB95664061}" srcOrd="0" destOrd="0" presId="urn:microsoft.com/office/officeart/2008/layout/LinedList"/>
    <dgm:cxn modelId="{8B0CEFB1-E258-4610-B20A-6178050F6A8F}" type="presParOf" srcId="{F651553E-07BC-4179-A635-454C1AF8350E}" destId="{4AB9B6E2-F99C-4D46-94A9-67502A32F9BD}" srcOrd="1" destOrd="0" presId="urn:microsoft.com/office/officeart/2008/layout/LinedList"/>
    <dgm:cxn modelId="{19D2B99E-5A8E-4C6A-BC0D-C8CC18E978A3}" type="presParOf" srcId="{5D119D24-5F86-4EC8-A534-A400E6F1387D}" destId="{53029FE6-1926-4512-BDE7-931564D185E9}" srcOrd="8" destOrd="0" presId="urn:microsoft.com/office/officeart/2008/layout/LinedList"/>
    <dgm:cxn modelId="{9A96B207-84AF-4911-B68E-634D98E7A5EF}" type="presParOf" srcId="{5D119D24-5F86-4EC8-A534-A400E6F1387D}" destId="{8BC09034-B3F2-494C-9102-7CCEA1F45889}" srcOrd="9" destOrd="0" presId="urn:microsoft.com/office/officeart/2008/layout/LinedList"/>
    <dgm:cxn modelId="{64D6DDF2-BAE9-4DF2-AAF8-07321AD01A99}" type="presParOf" srcId="{8BC09034-B3F2-494C-9102-7CCEA1F45889}" destId="{D972C9B3-670C-4274-BF11-63C74A9258FB}" srcOrd="0" destOrd="0" presId="urn:microsoft.com/office/officeart/2008/layout/LinedList"/>
    <dgm:cxn modelId="{E9D2C28F-F062-4539-A3CF-7382B8F615AF}" type="presParOf" srcId="{8BC09034-B3F2-494C-9102-7CCEA1F45889}" destId="{0065CFEC-B63F-48B9-B2BF-9DA1F73487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DCA140-BE74-4344-AA44-76927201E8E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BA0C2D2-0560-4070-AFCE-B935C0CA69CE}">
      <dgm:prSet/>
      <dgm:spPr/>
      <dgm:t>
        <a:bodyPr/>
        <a:lstStyle/>
        <a:p>
          <a:r>
            <a:rPr lang="en-US" dirty="0">
              <a:latin typeface="+mn-lt"/>
            </a:rPr>
            <a:t>SEC</a:t>
          </a:r>
          <a:r>
            <a:rPr lang="ko-KR" dirty="0">
              <a:latin typeface="+mn-lt"/>
            </a:rPr>
            <a:t>의 </a:t>
          </a:r>
          <a:r>
            <a:rPr lang="en-US" dirty="0">
              <a:latin typeface="+mn-lt"/>
            </a:rPr>
            <a:t>EDGAR system </a:t>
          </a:r>
          <a:r>
            <a:rPr lang="ko-KR" dirty="0">
              <a:latin typeface="+mn-lt"/>
            </a:rPr>
            <a:t>이용하여 </a:t>
          </a:r>
          <a:r>
            <a:rPr lang="en-US" dirty="0">
              <a:latin typeface="+mn-lt"/>
            </a:rPr>
            <a:t>SEC</a:t>
          </a:r>
          <a:r>
            <a:rPr lang="ko-KR" dirty="0">
              <a:latin typeface="+mn-lt"/>
            </a:rPr>
            <a:t>에 기업이 제출한 재무 데이터 수집</a:t>
          </a:r>
          <a:endParaRPr lang="en-US" dirty="0">
            <a:latin typeface="+mn-lt"/>
          </a:endParaRPr>
        </a:p>
      </dgm:t>
    </dgm:pt>
    <dgm:pt modelId="{F672C68E-4A18-4A32-AB3D-4EE14C33FCC0}" type="parTrans" cxnId="{1314590C-33D9-4470-8C0D-F8B445FEB4F5}">
      <dgm:prSet/>
      <dgm:spPr/>
      <dgm:t>
        <a:bodyPr/>
        <a:lstStyle/>
        <a:p>
          <a:endParaRPr lang="en-US"/>
        </a:p>
      </dgm:t>
    </dgm:pt>
    <dgm:pt modelId="{6A4CC622-7624-4C31-933F-13EBA39E21C3}" type="sibTrans" cxnId="{1314590C-33D9-4470-8C0D-F8B445FEB4F5}">
      <dgm:prSet/>
      <dgm:spPr/>
      <dgm:t>
        <a:bodyPr/>
        <a:lstStyle/>
        <a:p>
          <a:endParaRPr lang="en-US"/>
        </a:p>
      </dgm:t>
    </dgm:pt>
    <dgm:pt modelId="{611921A8-B48E-4FD5-A161-FEB6AC2CF89D}">
      <dgm:prSet/>
      <dgm:spPr/>
      <dgm:t>
        <a:bodyPr/>
        <a:lstStyle/>
        <a:p>
          <a:r>
            <a:rPr lang="en-US" dirty="0"/>
            <a:t>EDGAR</a:t>
          </a:r>
          <a:r>
            <a:rPr lang="ko-KR" dirty="0"/>
            <a:t>에서는 기업의 이름을 </a:t>
          </a:r>
          <a:r>
            <a:rPr lang="en-US" dirty="0"/>
            <a:t>CIK</a:t>
          </a:r>
          <a:r>
            <a:rPr lang="ko-KR" dirty="0"/>
            <a:t>라는 고유한 숫자 일련번호로 관리합니다</a:t>
          </a:r>
          <a:r>
            <a:rPr lang="en-US" dirty="0"/>
            <a:t>.</a:t>
          </a:r>
        </a:p>
      </dgm:t>
    </dgm:pt>
    <dgm:pt modelId="{5222B796-6A8F-4186-A746-7F80111BA843}" type="parTrans" cxnId="{509CF67D-4A96-45BF-9B2C-8D5A13C91473}">
      <dgm:prSet/>
      <dgm:spPr/>
      <dgm:t>
        <a:bodyPr/>
        <a:lstStyle/>
        <a:p>
          <a:endParaRPr lang="en-US"/>
        </a:p>
      </dgm:t>
    </dgm:pt>
    <dgm:pt modelId="{6DAF5F99-02DB-4997-9A27-D2328B4CB42A}" type="sibTrans" cxnId="{509CF67D-4A96-45BF-9B2C-8D5A13C91473}">
      <dgm:prSet/>
      <dgm:spPr/>
      <dgm:t>
        <a:bodyPr/>
        <a:lstStyle/>
        <a:p>
          <a:endParaRPr lang="en-US"/>
        </a:p>
      </dgm:t>
    </dgm:pt>
    <dgm:pt modelId="{24816017-9C04-42ED-8EE2-B483AF76872A}">
      <dgm:prSet/>
      <dgm:spPr/>
      <dgm:t>
        <a:bodyPr/>
        <a:lstStyle/>
        <a:p>
          <a:r>
            <a:rPr lang="en-US" dirty="0"/>
            <a:t>CIK &lt;-&gt; ticker</a:t>
          </a:r>
          <a:r>
            <a:rPr lang="ko-KR" dirty="0"/>
            <a:t> 변환기 필요</a:t>
          </a:r>
          <a:r>
            <a:rPr lang="en-US" dirty="0"/>
            <a:t>. (</a:t>
          </a:r>
          <a:r>
            <a:rPr lang="en-US" dirty="0" err="1"/>
            <a:t>create_mapper</a:t>
          </a:r>
          <a:r>
            <a:rPr lang="en-US" dirty="0"/>
            <a:t>() </a:t>
          </a:r>
          <a:r>
            <a:rPr lang="ko-KR" dirty="0"/>
            <a:t>함수를 통해 생성</a:t>
          </a:r>
          <a:r>
            <a:rPr lang="en-US" dirty="0"/>
            <a:t>)</a:t>
          </a:r>
        </a:p>
      </dgm:t>
    </dgm:pt>
    <dgm:pt modelId="{D7CF09D4-DC86-4F48-9507-EC393947D885}" type="parTrans" cxnId="{411B8C7A-723D-4DE2-8BC9-3BC41FC79120}">
      <dgm:prSet/>
      <dgm:spPr/>
      <dgm:t>
        <a:bodyPr/>
        <a:lstStyle/>
        <a:p>
          <a:endParaRPr lang="en-US"/>
        </a:p>
      </dgm:t>
    </dgm:pt>
    <dgm:pt modelId="{876493BA-8C24-42F7-A7C1-06E875534DDD}" type="sibTrans" cxnId="{411B8C7A-723D-4DE2-8BC9-3BC41FC79120}">
      <dgm:prSet/>
      <dgm:spPr/>
      <dgm:t>
        <a:bodyPr/>
        <a:lstStyle/>
        <a:p>
          <a:endParaRPr lang="en-US"/>
        </a:p>
      </dgm:t>
    </dgm:pt>
    <dgm:pt modelId="{82DDA01C-595B-4F89-B9E3-1770D4CBD739}" type="pres">
      <dgm:prSet presAssocID="{1CDCA140-BE74-4344-AA44-76927201E8EB}" presName="vert0" presStyleCnt="0">
        <dgm:presLayoutVars>
          <dgm:dir/>
          <dgm:animOne val="branch"/>
          <dgm:animLvl val="lvl"/>
        </dgm:presLayoutVars>
      </dgm:prSet>
      <dgm:spPr/>
    </dgm:pt>
    <dgm:pt modelId="{E9A17853-EA47-4047-9DAC-0130F84E8BB5}" type="pres">
      <dgm:prSet presAssocID="{DBA0C2D2-0560-4070-AFCE-B935C0CA69CE}" presName="thickLine" presStyleLbl="alignNode1" presStyleIdx="0" presStyleCnt="3"/>
      <dgm:spPr/>
    </dgm:pt>
    <dgm:pt modelId="{DBEC69A0-580E-4EA5-9926-0A1C27CF3780}" type="pres">
      <dgm:prSet presAssocID="{DBA0C2D2-0560-4070-AFCE-B935C0CA69CE}" presName="horz1" presStyleCnt="0"/>
      <dgm:spPr/>
    </dgm:pt>
    <dgm:pt modelId="{A9DBA0C2-724B-4732-8BB8-4F704AFF2FA7}" type="pres">
      <dgm:prSet presAssocID="{DBA0C2D2-0560-4070-AFCE-B935C0CA69CE}" presName="tx1" presStyleLbl="revTx" presStyleIdx="0" presStyleCnt="3"/>
      <dgm:spPr/>
    </dgm:pt>
    <dgm:pt modelId="{0E0E70A4-6E62-4957-B7B7-EFCCC2AB6F7A}" type="pres">
      <dgm:prSet presAssocID="{DBA0C2D2-0560-4070-AFCE-B935C0CA69CE}" presName="vert1" presStyleCnt="0"/>
      <dgm:spPr/>
    </dgm:pt>
    <dgm:pt modelId="{D8E9F810-0A6B-40F5-9320-4A2B04B4DC85}" type="pres">
      <dgm:prSet presAssocID="{611921A8-B48E-4FD5-A161-FEB6AC2CF89D}" presName="thickLine" presStyleLbl="alignNode1" presStyleIdx="1" presStyleCnt="3"/>
      <dgm:spPr/>
    </dgm:pt>
    <dgm:pt modelId="{B181CBFA-DBDA-49FE-A470-9D4E6642CF62}" type="pres">
      <dgm:prSet presAssocID="{611921A8-B48E-4FD5-A161-FEB6AC2CF89D}" presName="horz1" presStyleCnt="0"/>
      <dgm:spPr/>
    </dgm:pt>
    <dgm:pt modelId="{7DB4211B-01AB-4F88-8A45-79F98A8CE0D9}" type="pres">
      <dgm:prSet presAssocID="{611921A8-B48E-4FD5-A161-FEB6AC2CF89D}" presName="tx1" presStyleLbl="revTx" presStyleIdx="1" presStyleCnt="3"/>
      <dgm:spPr/>
    </dgm:pt>
    <dgm:pt modelId="{C732918E-CB12-48FD-9E72-B3F9C23B2F65}" type="pres">
      <dgm:prSet presAssocID="{611921A8-B48E-4FD5-A161-FEB6AC2CF89D}" presName="vert1" presStyleCnt="0"/>
      <dgm:spPr/>
    </dgm:pt>
    <dgm:pt modelId="{102661FD-164C-422D-BC71-45B9020A4772}" type="pres">
      <dgm:prSet presAssocID="{24816017-9C04-42ED-8EE2-B483AF76872A}" presName="thickLine" presStyleLbl="alignNode1" presStyleIdx="2" presStyleCnt="3"/>
      <dgm:spPr/>
    </dgm:pt>
    <dgm:pt modelId="{69A5ABE6-F98F-4659-9E62-1299861B9BA4}" type="pres">
      <dgm:prSet presAssocID="{24816017-9C04-42ED-8EE2-B483AF76872A}" presName="horz1" presStyleCnt="0"/>
      <dgm:spPr/>
    </dgm:pt>
    <dgm:pt modelId="{7C9716E3-CE08-44C2-9164-210261F74690}" type="pres">
      <dgm:prSet presAssocID="{24816017-9C04-42ED-8EE2-B483AF76872A}" presName="tx1" presStyleLbl="revTx" presStyleIdx="2" presStyleCnt="3"/>
      <dgm:spPr/>
    </dgm:pt>
    <dgm:pt modelId="{7DE753F0-2E7E-47D0-81D8-79DF4EF2F674}" type="pres">
      <dgm:prSet presAssocID="{24816017-9C04-42ED-8EE2-B483AF76872A}" presName="vert1" presStyleCnt="0"/>
      <dgm:spPr/>
    </dgm:pt>
  </dgm:ptLst>
  <dgm:cxnLst>
    <dgm:cxn modelId="{1314590C-33D9-4470-8C0D-F8B445FEB4F5}" srcId="{1CDCA140-BE74-4344-AA44-76927201E8EB}" destId="{DBA0C2D2-0560-4070-AFCE-B935C0CA69CE}" srcOrd="0" destOrd="0" parTransId="{F672C68E-4A18-4A32-AB3D-4EE14C33FCC0}" sibTransId="{6A4CC622-7624-4C31-933F-13EBA39E21C3}"/>
    <dgm:cxn modelId="{659A2C65-146D-4D79-9C62-F63E52D3B082}" type="presOf" srcId="{611921A8-B48E-4FD5-A161-FEB6AC2CF89D}" destId="{7DB4211B-01AB-4F88-8A45-79F98A8CE0D9}" srcOrd="0" destOrd="0" presId="urn:microsoft.com/office/officeart/2008/layout/LinedList"/>
    <dgm:cxn modelId="{C9DDDC58-97B7-45C0-9831-9E82C127BBC9}" type="presOf" srcId="{DBA0C2D2-0560-4070-AFCE-B935C0CA69CE}" destId="{A9DBA0C2-724B-4732-8BB8-4F704AFF2FA7}" srcOrd="0" destOrd="0" presId="urn:microsoft.com/office/officeart/2008/layout/LinedList"/>
    <dgm:cxn modelId="{411B8C7A-723D-4DE2-8BC9-3BC41FC79120}" srcId="{1CDCA140-BE74-4344-AA44-76927201E8EB}" destId="{24816017-9C04-42ED-8EE2-B483AF76872A}" srcOrd="2" destOrd="0" parTransId="{D7CF09D4-DC86-4F48-9507-EC393947D885}" sibTransId="{876493BA-8C24-42F7-A7C1-06E875534DDD}"/>
    <dgm:cxn modelId="{509CF67D-4A96-45BF-9B2C-8D5A13C91473}" srcId="{1CDCA140-BE74-4344-AA44-76927201E8EB}" destId="{611921A8-B48E-4FD5-A161-FEB6AC2CF89D}" srcOrd="1" destOrd="0" parTransId="{5222B796-6A8F-4186-A746-7F80111BA843}" sibTransId="{6DAF5F99-02DB-4997-9A27-D2328B4CB42A}"/>
    <dgm:cxn modelId="{2AD4CB81-1C77-442B-8D7E-CB3EECE7A1FC}" type="presOf" srcId="{24816017-9C04-42ED-8EE2-B483AF76872A}" destId="{7C9716E3-CE08-44C2-9164-210261F74690}" srcOrd="0" destOrd="0" presId="urn:microsoft.com/office/officeart/2008/layout/LinedList"/>
    <dgm:cxn modelId="{583BAADD-1CDA-4B52-B90C-2C710AE517A8}" type="presOf" srcId="{1CDCA140-BE74-4344-AA44-76927201E8EB}" destId="{82DDA01C-595B-4F89-B9E3-1770D4CBD739}" srcOrd="0" destOrd="0" presId="urn:microsoft.com/office/officeart/2008/layout/LinedList"/>
    <dgm:cxn modelId="{54447D2D-D57B-4A38-8BB2-CAA4E5F86E12}" type="presParOf" srcId="{82DDA01C-595B-4F89-B9E3-1770D4CBD739}" destId="{E9A17853-EA47-4047-9DAC-0130F84E8BB5}" srcOrd="0" destOrd="0" presId="urn:microsoft.com/office/officeart/2008/layout/LinedList"/>
    <dgm:cxn modelId="{13AFEB5B-7AF2-4395-8CE1-1CB6EC4C1078}" type="presParOf" srcId="{82DDA01C-595B-4F89-B9E3-1770D4CBD739}" destId="{DBEC69A0-580E-4EA5-9926-0A1C27CF3780}" srcOrd="1" destOrd="0" presId="urn:microsoft.com/office/officeart/2008/layout/LinedList"/>
    <dgm:cxn modelId="{BBD66977-BBF1-4DCE-BEA5-106801D47CF5}" type="presParOf" srcId="{DBEC69A0-580E-4EA5-9926-0A1C27CF3780}" destId="{A9DBA0C2-724B-4732-8BB8-4F704AFF2FA7}" srcOrd="0" destOrd="0" presId="urn:microsoft.com/office/officeart/2008/layout/LinedList"/>
    <dgm:cxn modelId="{3E07CE51-A628-4976-B728-02FA71D23E4A}" type="presParOf" srcId="{DBEC69A0-580E-4EA5-9926-0A1C27CF3780}" destId="{0E0E70A4-6E62-4957-B7B7-EFCCC2AB6F7A}" srcOrd="1" destOrd="0" presId="urn:microsoft.com/office/officeart/2008/layout/LinedList"/>
    <dgm:cxn modelId="{B8328910-7992-46A6-BFD3-6D5E3ED20B76}" type="presParOf" srcId="{82DDA01C-595B-4F89-B9E3-1770D4CBD739}" destId="{D8E9F810-0A6B-40F5-9320-4A2B04B4DC85}" srcOrd="2" destOrd="0" presId="urn:microsoft.com/office/officeart/2008/layout/LinedList"/>
    <dgm:cxn modelId="{30FAD187-C972-4067-9179-043A1994F253}" type="presParOf" srcId="{82DDA01C-595B-4F89-B9E3-1770D4CBD739}" destId="{B181CBFA-DBDA-49FE-A470-9D4E6642CF62}" srcOrd="3" destOrd="0" presId="urn:microsoft.com/office/officeart/2008/layout/LinedList"/>
    <dgm:cxn modelId="{5C6DB6C6-B18F-4D22-A224-65942943EA52}" type="presParOf" srcId="{B181CBFA-DBDA-49FE-A470-9D4E6642CF62}" destId="{7DB4211B-01AB-4F88-8A45-79F98A8CE0D9}" srcOrd="0" destOrd="0" presId="urn:microsoft.com/office/officeart/2008/layout/LinedList"/>
    <dgm:cxn modelId="{7B090064-DC6F-43BF-BC68-4FCE94E54A5B}" type="presParOf" srcId="{B181CBFA-DBDA-49FE-A470-9D4E6642CF62}" destId="{C732918E-CB12-48FD-9E72-B3F9C23B2F65}" srcOrd="1" destOrd="0" presId="urn:microsoft.com/office/officeart/2008/layout/LinedList"/>
    <dgm:cxn modelId="{2EDB70E4-DE26-45EB-99E3-AA67BFAA3A5D}" type="presParOf" srcId="{82DDA01C-595B-4F89-B9E3-1770D4CBD739}" destId="{102661FD-164C-422D-BC71-45B9020A4772}" srcOrd="4" destOrd="0" presId="urn:microsoft.com/office/officeart/2008/layout/LinedList"/>
    <dgm:cxn modelId="{BC74BF65-593F-48A5-A661-4C6960BE725C}" type="presParOf" srcId="{82DDA01C-595B-4F89-B9E3-1770D4CBD739}" destId="{69A5ABE6-F98F-4659-9E62-1299861B9BA4}" srcOrd="5" destOrd="0" presId="urn:microsoft.com/office/officeart/2008/layout/LinedList"/>
    <dgm:cxn modelId="{4CF9B21A-E9D5-420F-9E4D-ACB686B33CFC}" type="presParOf" srcId="{69A5ABE6-F98F-4659-9E62-1299861B9BA4}" destId="{7C9716E3-CE08-44C2-9164-210261F74690}" srcOrd="0" destOrd="0" presId="urn:microsoft.com/office/officeart/2008/layout/LinedList"/>
    <dgm:cxn modelId="{F221CB4C-91CB-4E41-90D6-38DBA368BC87}" type="presParOf" srcId="{69A5ABE6-F98F-4659-9E62-1299861B9BA4}" destId="{7DE753F0-2E7E-47D0-81D8-79DF4EF2F6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23768-43E0-4DC4-8E73-18D0231ADA56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173BF-262B-4E86-8701-8B3EE3EF977A}">
      <dsp:nvSpPr>
        <dsp:cNvPr id="0" name=""/>
        <dsp:cNvSpPr/>
      </dsp:nvSpPr>
      <dsp:spPr>
        <a:xfrm>
          <a:off x="0" y="531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create_mapper: CIK, ticker mapper </a:t>
          </a:r>
          <a:r>
            <a:rPr lang="ko-KR" sz="2000" kern="1200"/>
            <a:t>생성</a:t>
          </a:r>
          <a:endParaRPr lang="en-US" sz="2000" kern="1200"/>
        </a:p>
      </dsp:txBody>
      <dsp:txXfrm>
        <a:off x="0" y="531"/>
        <a:ext cx="10515600" cy="870296"/>
      </dsp:txXfrm>
    </dsp:sp>
    <dsp:sp modelId="{954C701B-E96D-4C34-96B3-EECBED5A87F5}">
      <dsp:nvSpPr>
        <dsp:cNvPr id="0" name=""/>
        <dsp:cNvSpPr/>
      </dsp:nvSpPr>
      <dsp:spPr>
        <a:xfrm>
          <a:off x="0" y="870827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4E5B9-25C3-40CF-82DA-51A3F08CBF62}">
      <dsp:nvSpPr>
        <dsp:cNvPr id="0" name=""/>
        <dsp:cNvSpPr/>
      </dsp:nvSpPr>
      <dsp:spPr>
        <a:xfrm>
          <a:off x="0" y="870827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collect_financial_data: </a:t>
          </a:r>
          <a:r>
            <a:rPr lang="ko-KR" sz="2000" kern="1200"/>
            <a:t>재무 정보 정리</a:t>
          </a:r>
          <a:endParaRPr lang="en-US" sz="2000" kern="1200"/>
        </a:p>
      </dsp:txBody>
      <dsp:txXfrm>
        <a:off x="0" y="870827"/>
        <a:ext cx="10515600" cy="870296"/>
      </dsp:txXfrm>
    </dsp:sp>
    <dsp:sp modelId="{0F1A2681-DAC9-45A6-B722-13B644D8EF23}">
      <dsp:nvSpPr>
        <dsp:cNvPr id="0" name=""/>
        <dsp:cNvSpPr/>
      </dsp:nvSpPr>
      <dsp:spPr>
        <a:xfrm>
          <a:off x="0" y="174112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E08CB-EF22-4416-9B8E-89369100A554}">
      <dsp:nvSpPr>
        <dsp:cNvPr id="0" name=""/>
        <dsp:cNvSpPr/>
      </dsp:nvSpPr>
      <dsp:spPr>
        <a:xfrm>
          <a:off x="0" y="1741123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collect_price_and_volume: </a:t>
          </a:r>
          <a:r>
            <a:rPr lang="ko-KR" sz="2000" kern="1200"/>
            <a:t>가격</a:t>
          </a:r>
          <a:r>
            <a:rPr lang="en-US" sz="2000" kern="1200"/>
            <a:t>, </a:t>
          </a:r>
          <a:r>
            <a:rPr lang="ko-KR" sz="2000" kern="1200"/>
            <a:t>거래량 정보 수집</a:t>
          </a:r>
          <a:endParaRPr lang="en-US" sz="2000" kern="1200"/>
        </a:p>
      </dsp:txBody>
      <dsp:txXfrm>
        <a:off x="0" y="1741123"/>
        <a:ext cx="10515600" cy="870296"/>
      </dsp:txXfrm>
    </dsp:sp>
    <dsp:sp modelId="{58B1E48B-846B-4213-8B92-A169E7D1D1CF}">
      <dsp:nvSpPr>
        <dsp:cNvPr id="0" name=""/>
        <dsp:cNvSpPr/>
      </dsp:nvSpPr>
      <dsp:spPr>
        <a:xfrm>
          <a:off x="0" y="261142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CC9AC-6407-4292-A7F8-5BFB95664061}">
      <dsp:nvSpPr>
        <dsp:cNvPr id="0" name=""/>
        <dsp:cNvSpPr/>
      </dsp:nvSpPr>
      <dsp:spPr>
        <a:xfrm>
          <a:off x="0" y="2611420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concat_info: </a:t>
          </a:r>
          <a:r>
            <a:rPr lang="ko-KR" sz="2000" kern="1200"/>
            <a:t>가격과 재무 정보 날짜에 맞게 결합</a:t>
          </a:r>
          <a:endParaRPr lang="en-US" sz="2000" kern="1200"/>
        </a:p>
      </dsp:txBody>
      <dsp:txXfrm>
        <a:off x="0" y="2611420"/>
        <a:ext cx="10515600" cy="870296"/>
      </dsp:txXfrm>
    </dsp:sp>
    <dsp:sp modelId="{53029FE6-1926-4512-BDE7-931564D185E9}">
      <dsp:nvSpPr>
        <dsp:cNvPr id="0" name=""/>
        <dsp:cNvSpPr/>
      </dsp:nvSpPr>
      <dsp:spPr>
        <a:xfrm>
          <a:off x="0" y="3481716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2C9B3-670C-4274-BF11-63C74A9258FB}">
      <dsp:nvSpPr>
        <dsp:cNvPr id="0" name=""/>
        <dsp:cNvSpPr/>
      </dsp:nvSpPr>
      <dsp:spPr>
        <a:xfrm>
          <a:off x="0" y="3481716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make_simple_portfolio: </a:t>
          </a:r>
          <a:r>
            <a:rPr lang="ko-KR" sz="2000" kern="1200"/>
            <a:t>결합된 데이터를 바탕으로 간단한 </a:t>
          </a:r>
          <a:r>
            <a:rPr lang="en-US" sz="2000" kern="1200"/>
            <a:t>factor</a:t>
          </a:r>
          <a:r>
            <a:rPr lang="ko-KR" sz="2000" kern="1200"/>
            <a:t>에 기반한 포토폴리오 생성</a:t>
          </a:r>
          <a:endParaRPr lang="en-US" sz="2000" kern="1200"/>
        </a:p>
      </dsp:txBody>
      <dsp:txXfrm>
        <a:off x="0" y="3481716"/>
        <a:ext cx="10515600" cy="870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17853-EA47-4047-9DAC-0130F84E8BB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BA0C2-724B-4732-8BB8-4F704AFF2FA7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+mn-lt"/>
            </a:rPr>
            <a:t>SEC</a:t>
          </a:r>
          <a:r>
            <a:rPr lang="ko-KR" sz="3000" kern="1200" dirty="0">
              <a:latin typeface="+mn-lt"/>
            </a:rPr>
            <a:t>의 </a:t>
          </a:r>
          <a:r>
            <a:rPr lang="en-US" sz="3000" kern="1200" dirty="0">
              <a:latin typeface="+mn-lt"/>
            </a:rPr>
            <a:t>EDGAR system </a:t>
          </a:r>
          <a:r>
            <a:rPr lang="ko-KR" sz="3000" kern="1200" dirty="0">
              <a:latin typeface="+mn-lt"/>
            </a:rPr>
            <a:t>이용하여 </a:t>
          </a:r>
          <a:r>
            <a:rPr lang="en-US" sz="3000" kern="1200" dirty="0">
              <a:latin typeface="+mn-lt"/>
            </a:rPr>
            <a:t>SEC</a:t>
          </a:r>
          <a:r>
            <a:rPr lang="ko-KR" sz="3000" kern="1200" dirty="0">
              <a:latin typeface="+mn-lt"/>
            </a:rPr>
            <a:t>에 기업이 제출한 재무 데이터 수집</a:t>
          </a:r>
          <a:endParaRPr lang="en-US" sz="3000" kern="1200" dirty="0">
            <a:latin typeface="+mn-lt"/>
          </a:endParaRPr>
        </a:p>
      </dsp:txBody>
      <dsp:txXfrm>
        <a:off x="0" y="2124"/>
        <a:ext cx="10515600" cy="1449029"/>
      </dsp:txXfrm>
    </dsp:sp>
    <dsp:sp modelId="{D8E9F810-0A6B-40F5-9320-4A2B04B4DC85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4211B-01AB-4F88-8A45-79F98A8CE0D9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EDGAR</a:t>
          </a:r>
          <a:r>
            <a:rPr lang="ko-KR" sz="3000" kern="1200" dirty="0"/>
            <a:t>에서는 기업의 이름을 </a:t>
          </a:r>
          <a:r>
            <a:rPr lang="en-US" sz="3000" kern="1200" dirty="0"/>
            <a:t>CIK</a:t>
          </a:r>
          <a:r>
            <a:rPr lang="ko-KR" sz="3000" kern="1200" dirty="0"/>
            <a:t>라는 고유한 숫자 일련번호로 관리합니다</a:t>
          </a:r>
          <a:r>
            <a:rPr lang="en-US" sz="3000" kern="1200" dirty="0"/>
            <a:t>.</a:t>
          </a:r>
        </a:p>
      </dsp:txBody>
      <dsp:txXfrm>
        <a:off x="0" y="1451154"/>
        <a:ext cx="10515600" cy="1449029"/>
      </dsp:txXfrm>
    </dsp:sp>
    <dsp:sp modelId="{102661FD-164C-422D-BC71-45B9020A4772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716E3-CE08-44C2-9164-210261F74690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CIK &lt;-&gt; ticker</a:t>
          </a:r>
          <a:r>
            <a:rPr lang="ko-KR" sz="3000" kern="1200" dirty="0"/>
            <a:t> 변환기 필요</a:t>
          </a:r>
          <a:r>
            <a:rPr lang="en-US" sz="3000" kern="1200" dirty="0"/>
            <a:t>. (</a:t>
          </a:r>
          <a:r>
            <a:rPr lang="en-US" sz="3000" kern="1200" dirty="0" err="1"/>
            <a:t>create_mapper</a:t>
          </a:r>
          <a:r>
            <a:rPr lang="en-US" sz="3000" kern="1200" dirty="0"/>
            <a:t>() </a:t>
          </a:r>
          <a:r>
            <a:rPr lang="ko-KR" sz="3000" kern="1200" dirty="0"/>
            <a:t>함수를 통해 생성</a:t>
          </a:r>
          <a:r>
            <a:rPr lang="en-US" sz="3000" kern="1200" dirty="0"/>
            <a:t>)</a:t>
          </a:r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3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70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19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29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3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23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61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59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31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9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13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216A-91E5-42BE-8EC2-F7BE452C284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79759-5910-404D-962D-A88E396F9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66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548D10-8892-5A27-1DB9-B305E6F95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altLang="ko-KR" sz="8000"/>
              <a:t>Portfolio maker</a:t>
            </a:r>
            <a:endParaRPr lang="ko-KR" altLang="en-US" sz="8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736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85E02-8260-5C17-0057-5846DFA8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798D7E-FFC5-0F21-A919-A1F08791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altLang="ko-KR" sz="5200" dirty="0"/>
              <a:t>Containing</a:t>
            </a:r>
            <a:endParaRPr lang="ko-KR" altLang="en-US" sz="5200" dirty="0"/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0543273A-ACCE-3CCE-7644-8BBD8AEA0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95585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909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5BEDA67-BCAB-2348-53B3-77FB72A9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pic>
        <p:nvPicPr>
          <p:cNvPr id="5" name="그림 4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C7F593-2403-9847-4B51-B85119E55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20" y="1845426"/>
            <a:ext cx="620250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1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278A9-D342-BCCA-BB7C-EB236ABB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D05553-0733-B75C-FE83-BD1028E0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ko-KR" altLang="en-US" sz="5200">
                <a:latin typeface="Cambria" panose="02040503050406030204" pitchFamily="18" charset="0"/>
              </a:rPr>
              <a:t>재무 데이터</a:t>
            </a: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E95A6377-079F-15CB-698E-45D325C56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3288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60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045A-37F2-6A83-9E51-4B366CD0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B4B4E8-CF1F-0CF9-1A7A-FE455B7F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ko-KR" altLang="en-US" sz="3400"/>
              <a:t>재무 데이터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EADB01-237F-0AD0-9A14-E59D2ABD8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51" y="2676478"/>
            <a:ext cx="5471327" cy="1472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200" dirty="0"/>
              <a:t>https://www.sec.gov/search-filings/edgar-application-programming-interfaces </a:t>
            </a:r>
            <a:r>
              <a:rPr lang="ko-KR" altLang="en-US" sz="2200" dirty="0"/>
              <a:t>사이트에 접속하여 재무 파일 다운로드</a:t>
            </a:r>
            <a:endParaRPr lang="en-US" altLang="ko-KR" sz="2200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3586FC-9165-A868-C24D-109EFE09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179" y="2247860"/>
            <a:ext cx="6028341" cy="1974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9B0DDC-3889-52B1-552A-0640E862E17C}"/>
              </a:ext>
            </a:extLst>
          </p:cNvPr>
          <p:cNvSpPr txBox="1"/>
          <p:nvPr/>
        </p:nvSpPr>
        <p:spPr>
          <a:xfrm>
            <a:off x="411479" y="4980307"/>
            <a:ext cx="11200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이 파일은 </a:t>
            </a:r>
            <a:r>
              <a:rPr lang="en-US" altLang="ko-KR" sz="1800" dirty="0" err="1"/>
              <a:t>json</a:t>
            </a:r>
            <a:r>
              <a:rPr lang="en-US" altLang="ko-KR" sz="1800" dirty="0"/>
              <a:t> </a:t>
            </a:r>
            <a:r>
              <a:rPr lang="ko-KR" altLang="en-US" sz="1800" dirty="0"/>
              <a:t>형식으로 되어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구체적인 재무 데이터 정보는 </a:t>
            </a:r>
            <a:r>
              <a:rPr lang="en-US" altLang="ko-KR" sz="1800" dirty="0"/>
              <a:t>'facts’ </a:t>
            </a:r>
            <a:r>
              <a:rPr lang="ko-KR" altLang="en-US" sz="1800" dirty="0"/>
              <a:t>항목의 </a:t>
            </a:r>
            <a:r>
              <a:rPr lang="en-US" altLang="ko-KR" sz="1800" dirty="0"/>
              <a:t>＇us-</a:t>
            </a:r>
            <a:r>
              <a:rPr lang="en-US" altLang="ko-KR" sz="1800" dirty="0" err="1"/>
              <a:t>gaap</a:t>
            </a:r>
            <a:r>
              <a:rPr lang="en-US" altLang="ko-KR" sz="1800" dirty="0"/>
              <a:t>’ or</a:t>
            </a:r>
            <a:r>
              <a:rPr lang="ko-KR" altLang="en-US" sz="1800" dirty="0"/>
              <a:t> </a:t>
            </a:r>
            <a:r>
              <a:rPr lang="en-US" altLang="ko-KR" sz="1800" dirty="0"/>
              <a:t>'</a:t>
            </a:r>
            <a:r>
              <a:rPr lang="en-US" altLang="ko-KR" sz="1800" dirty="0" err="1"/>
              <a:t>ifrs</a:t>
            </a:r>
            <a:r>
              <a:rPr lang="en-US" altLang="ko-KR" sz="1800" dirty="0"/>
              <a:t>-full’ </a:t>
            </a:r>
            <a:r>
              <a:rPr lang="ko-KR" altLang="en-US" sz="1800" dirty="0"/>
              <a:t>항목에서 해당하는 재무 항목을 찾으면 제출 날짜</a:t>
            </a:r>
            <a:r>
              <a:rPr lang="en-US" altLang="ko-KR" sz="1800" dirty="0"/>
              <a:t>, </a:t>
            </a:r>
            <a:r>
              <a:rPr lang="ko-KR" altLang="en-US" sz="1800" dirty="0"/>
              <a:t>시작</a:t>
            </a:r>
            <a:r>
              <a:rPr lang="en-US" altLang="ko-KR" sz="1800" dirty="0"/>
              <a:t>(duration</a:t>
            </a:r>
            <a:r>
              <a:rPr lang="ko-KR" altLang="en-US" sz="1800" dirty="0"/>
              <a:t>이 필요한 값들만</a:t>
            </a:r>
            <a:r>
              <a:rPr lang="en-US" altLang="ko-KR" sz="1800" dirty="0"/>
              <a:t>), </a:t>
            </a:r>
            <a:r>
              <a:rPr lang="ko-KR" altLang="en-US" sz="1800" dirty="0"/>
              <a:t>마감 날짜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수치값</a:t>
            </a:r>
            <a:r>
              <a:rPr lang="en-US" altLang="ko-KR" sz="1800" dirty="0"/>
              <a:t> </a:t>
            </a:r>
            <a:r>
              <a:rPr lang="ko-KR" altLang="en-US" sz="1800" dirty="0"/>
              <a:t>등등의 정보를 얻을 수 있습니다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90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49DCC-EF68-B8F5-1864-1DB38168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C23EA9-633E-2268-D1B6-57F70CC5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재무 데이터 처리</a:t>
            </a:r>
            <a:r>
              <a:rPr lang="en-US" altLang="ko-KR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과정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그림 6" descr="도표, 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86645A-A8DE-61A7-1858-606F54B5C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185" y="0"/>
            <a:ext cx="2051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3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0225FC-0D1A-9024-1F9F-6DB109A5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ko-KR" altLang="en-US" sz="3400"/>
              <a:t>재무 데이터</a:t>
            </a: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B9F2C-3E14-02CD-3D76-554F536D9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/>
              <a:t> 재무 항목의 종류는 생각보다 매우 많으며 </a:t>
            </a:r>
            <a:r>
              <a:rPr lang="en-US" altLang="ko-KR" sz="2200" dirty="0"/>
              <a:t>SEC</a:t>
            </a:r>
            <a:r>
              <a:rPr lang="ko-KR" altLang="en-US" sz="2200" dirty="0"/>
              <a:t>에서는 그것들을 따로 정리하여 나누지 않기 때문에 어떤 이름에 해당되는지를 직접 찾아야 합니다</a:t>
            </a:r>
            <a:r>
              <a:rPr lang="en-US" altLang="ko-KR" sz="2200" dirty="0"/>
              <a:t>.</a:t>
            </a:r>
          </a:p>
          <a:p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Ex) </a:t>
            </a:r>
          </a:p>
          <a:p>
            <a:pPr marL="0" indent="0">
              <a:buNone/>
            </a:pPr>
            <a:r>
              <a:rPr lang="ko-KR" altLang="en-US" sz="1800" dirty="0"/>
              <a:t>총자본 </a:t>
            </a:r>
            <a:r>
              <a:rPr lang="en-US" altLang="ko-KR" sz="1800" dirty="0"/>
              <a:t>= </a:t>
            </a:r>
            <a:r>
              <a:rPr lang="en-US" altLang="ko-KR" sz="1800" dirty="0" err="1"/>
              <a:t>StockholdersEquity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당기순이익 </a:t>
            </a:r>
            <a:r>
              <a:rPr lang="en-US" altLang="ko-KR" sz="1800" dirty="0"/>
              <a:t>= </a:t>
            </a:r>
            <a:r>
              <a:rPr lang="en-US" altLang="ko-KR" sz="1800" dirty="0" err="1"/>
              <a:t>NetIncomeLoss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D455B81-35DB-E2BB-464B-279EE711B0C6}"/>
              </a:ext>
            </a:extLst>
          </p:cNvPr>
          <p:cNvGrpSpPr/>
          <p:nvPr/>
        </p:nvGrpSpPr>
        <p:grpSpPr>
          <a:xfrm>
            <a:off x="5385816" y="1303325"/>
            <a:ext cx="6440424" cy="4195995"/>
            <a:chOff x="5787014" y="2627835"/>
            <a:chExt cx="5566786" cy="3626812"/>
          </a:xfrm>
        </p:grpSpPr>
        <p:pic>
          <p:nvPicPr>
            <p:cNvPr id="6" name="그림 5" descr="텍스트, 소프트웨어, 컴퓨터 아이콘, 멀티미디어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73A19AB-F351-00EE-FB48-562D368E5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220" t="22271" r="6291" b="21319"/>
            <a:stretch>
              <a:fillRect/>
            </a:stretch>
          </p:blipFill>
          <p:spPr>
            <a:xfrm>
              <a:off x="5787014" y="2627835"/>
              <a:ext cx="5566786" cy="33023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B1A0C1-DDA9-53FF-3C2A-E3D82E4CEE3E}"/>
                </a:ext>
              </a:extLst>
            </p:cNvPr>
            <p:cNvSpPr txBox="1"/>
            <p:nvPr/>
          </p:nvSpPr>
          <p:spPr>
            <a:xfrm>
              <a:off x="5920613" y="5931482"/>
              <a:ext cx="529958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25780">
                <a:spcAft>
                  <a:spcPts val="600"/>
                </a:spcAft>
              </a:pPr>
              <a:r>
                <a:rPr lang="ko-KR" altLang="en-US"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재무 데이터 항목 예시</a:t>
              </a:r>
              <a:endParaRPr lang="ko-KR" alt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349405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268B1-A400-0706-7905-A3F8BFBB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347E99-5F64-93BB-C0D6-79CEDF0F1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/>
              <a:t>재무 데이터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46BC0-DF9B-1C83-BE72-595F9F91C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34" y="2130252"/>
            <a:ext cx="11223774" cy="4290646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해당하는 항목을 찾은 후에는 각 기업별로 해당 항목의 </a:t>
            </a:r>
            <a:r>
              <a:rPr lang="ko-KR" altLang="en-US" sz="2200" dirty="0" err="1"/>
              <a:t>수치값을</a:t>
            </a:r>
            <a:r>
              <a:rPr lang="ko-KR" altLang="en-US" sz="2200" dirty="0"/>
              <a:t> 년도</a:t>
            </a:r>
            <a:r>
              <a:rPr lang="en-US" altLang="ko-KR" sz="2200" dirty="0"/>
              <a:t>, </a:t>
            </a:r>
            <a:r>
              <a:rPr lang="ko-KR" altLang="en-US" sz="2200" dirty="0"/>
              <a:t>분기별로 정리를 해야 합니다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en-US" altLang="ko-KR" sz="1700" dirty="0"/>
              <a:t>-&gt; </a:t>
            </a:r>
            <a:r>
              <a:rPr lang="ko-KR" altLang="en-US" sz="1700" dirty="0"/>
              <a:t>이 과정에서 몇가지 문제가 있는데</a:t>
            </a:r>
            <a:r>
              <a:rPr lang="en-US" altLang="ko-KR" sz="1700" dirty="0"/>
              <a:t>, </a:t>
            </a:r>
            <a:r>
              <a:rPr lang="ko-KR" altLang="en-US" sz="1700" dirty="0"/>
              <a:t>분기 구분이 모든 기업이 전부 </a:t>
            </a:r>
            <a:r>
              <a:rPr lang="ko-KR" altLang="en-US" sz="1700" dirty="0" err="1"/>
              <a:t>통일되어있는</a:t>
            </a:r>
            <a:r>
              <a:rPr lang="ko-KR" altLang="en-US" sz="1700" dirty="0"/>
              <a:t> 우리나라와는 다르게 미국의 기업들은 기업들마다 분기 구분이 다릅니다</a:t>
            </a:r>
            <a:r>
              <a:rPr lang="en-US" altLang="ko-KR" sz="1700" dirty="0"/>
              <a:t>.</a:t>
            </a:r>
            <a:r>
              <a:rPr lang="ko-KR" altLang="en-US" sz="1700" dirty="0"/>
              <a:t> 이를 해결하기 위해 마감 날짜를 기준으로 우리나라식으로 분기를 구분을 하는 작업이 필요합니다</a:t>
            </a:r>
            <a:r>
              <a:rPr lang="en-US" altLang="ko-KR" sz="1700" dirty="0"/>
              <a:t>.</a:t>
            </a:r>
          </a:p>
          <a:p>
            <a:pPr marL="0" indent="0">
              <a:buNone/>
            </a:pPr>
            <a:r>
              <a:rPr lang="en-US" altLang="ko-KR" sz="1700" dirty="0"/>
              <a:t>-&gt; </a:t>
            </a:r>
            <a:r>
              <a:rPr lang="ko-KR" altLang="en-US" sz="1700" dirty="0"/>
              <a:t>또한 </a:t>
            </a:r>
            <a:r>
              <a:rPr lang="en-US" altLang="ko-KR" sz="1700" dirty="0"/>
              <a:t>1</a:t>
            </a:r>
            <a:r>
              <a:rPr lang="ko-KR" altLang="en-US" sz="1700" dirty="0"/>
              <a:t>년 기준 재무제표가 제출되어 있는 경우 인접한 </a:t>
            </a:r>
            <a:r>
              <a:rPr lang="en-US" altLang="ko-KR" sz="1700" dirty="0"/>
              <a:t>quarter</a:t>
            </a:r>
            <a:r>
              <a:rPr lang="ko-KR" altLang="en-US" sz="1700" dirty="0"/>
              <a:t>의 데이터가 생략된 경우가 빈번하게 발생하기 때문에</a:t>
            </a:r>
            <a:r>
              <a:rPr lang="en-US" altLang="ko-KR" sz="1700" dirty="0"/>
              <a:t> annual data</a:t>
            </a:r>
            <a:r>
              <a:rPr lang="ko-KR" altLang="en-US" sz="1700" dirty="0"/>
              <a:t>를 이용하여 </a:t>
            </a:r>
            <a:r>
              <a:rPr lang="ko-KR" altLang="en-US" sz="1700" dirty="0" err="1"/>
              <a:t>비어있는</a:t>
            </a:r>
            <a:r>
              <a:rPr lang="ko-KR" altLang="en-US" sz="1700" dirty="0"/>
              <a:t> </a:t>
            </a:r>
            <a:r>
              <a:rPr lang="en-US" altLang="ko-KR" sz="1700" dirty="0"/>
              <a:t>quarter </a:t>
            </a:r>
            <a:r>
              <a:rPr lang="ko-KR" altLang="en-US" sz="1700" dirty="0"/>
              <a:t>데이터를 채워주는 작업도 필요합니다</a:t>
            </a:r>
            <a:r>
              <a:rPr lang="en-US" altLang="ko-KR" sz="1700" dirty="0"/>
              <a:t>.</a:t>
            </a:r>
          </a:p>
          <a:p>
            <a:pPr marL="0" indent="0">
              <a:buNone/>
            </a:pPr>
            <a:r>
              <a:rPr lang="en-US" altLang="ko-KR" sz="1700" dirty="0"/>
              <a:t>-&gt; </a:t>
            </a:r>
            <a:r>
              <a:rPr lang="ko-KR" altLang="en-US" sz="1700" dirty="0"/>
              <a:t>또한 기업들마다 재무 항목을 지칭하는 명칭이 다른 경우가 있으므로 이것도 반영을 해 주어야 합니다</a:t>
            </a:r>
            <a:r>
              <a:rPr lang="en-US" altLang="ko-KR" sz="1700" dirty="0"/>
              <a:t>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altLang="ko-KR" sz="1700" dirty="0"/>
          </a:p>
          <a:p>
            <a:r>
              <a:rPr lang="ko-KR" altLang="en-US" sz="2300" dirty="0"/>
              <a:t>위의 모든 작업들을 수행하여 정리된 형태로 만들어주는 것이 </a:t>
            </a:r>
            <a:r>
              <a:rPr lang="en-US" altLang="ko-KR" sz="2300" dirty="0" err="1"/>
              <a:t>collect_financial_data</a:t>
            </a:r>
            <a:r>
              <a:rPr lang="en-US" altLang="ko-KR" sz="2300" dirty="0"/>
              <a:t>() </a:t>
            </a:r>
            <a:r>
              <a:rPr lang="ko-KR" altLang="en-US" sz="2300" dirty="0"/>
              <a:t>함수입니다</a:t>
            </a:r>
            <a:r>
              <a:rPr lang="en-US" altLang="ko-KR" sz="2300" dirty="0"/>
              <a:t>. </a:t>
            </a:r>
            <a:r>
              <a:rPr lang="ko-KR" altLang="en-US" sz="2300" dirty="0"/>
              <a:t>작업을 완료한 후에는 해당 정보를 </a:t>
            </a:r>
            <a:r>
              <a:rPr lang="en-US" altLang="ko-KR" sz="2300" dirty="0" err="1"/>
              <a:t>infos.json</a:t>
            </a:r>
            <a:r>
              <a:rPr lang="en-US" altLang="ko-KR" sz="2300" dirty="0"/>
              <a:t> </a:t>
            </a:r>
            <a:r>
              <a:rPr lang="ko-KR" altLang="en-US" sz="2300" dirty="0"/>
              <a:t>파일에 저장합니다</a:t>
            </a:r>
            <a:r>
              <a:rPr lang="en-US" altLang="ko-KR" sz="2300" dirty="0"/>
              <a:t>.</a:t>
            </a:r>
          </a:p>
          <a:p>
            <a:pPr marL="0" indent="0">
              <a:buNone/>
            </a:pPr>
            <a:r>
              <a:rPr lang="en-US" altLang="ko-KR" sz="1700" dirty="0"/>
              <a:t>-&gt; </a:t>
            </a:r>
            <a:r>
              <a:rPr lang="ko-KR" altLang="en-US" sz="1700" dirty="0"/>
              <a:t>현재 코드에서 해당 함수는 </a:t>
            </a:r>
            <a:r>
              <a:rPr lang="en-US" altLang="ko-KR" sz="1700" dirty="0"/>
              <a:t>2</a:t>
            </a:r>
            <a:r>
              <a:rPr lang="ko-KR" altLang="en-US" sz="1700" dirty="0"/>
              <a:t>개의 재무 항목</a:t>
            </a:r>
            <a:r>
              <a:rPr lang="en-US" altLang="ko-KR" sz="1700" dirty="0"/>
              <a:t>(</a:t>
            </a:r>
            <a:r>
              <a:rPr lang="ko-KR" altLang="en-US" sz="1700" dirty="0"/>
              <a:t>총자본</a:t>
            </a:r>
            <a:r>
              <a:rPr lang="en-US" altLang="ko-KR" sz="1700" dirty="0"/>
              <a:t>, </a:t>
            </a:r>
            <a:r>
              <a:rPr lang="ko-KR" altLang="en-US" sz="1700" dirty="0"/>
              <a:t>당기순이익</a:t>
            </a:r>
            <a:r>
              <a:rPr lang="en-US" altLang="ko-KR" sz="1700" dirty="0"/>
              <a:t>)</a:t>
            </a:r>
            <a:r>
              <a:rPr lang="ko-KR" altLang="en-US" sz="1700" dirty="0"/>
              <a:t>과 발행 주식 수에 대해서만 진행을 하였습니다</a:t>
            </a:r>
            <a:r>
              <a:rPr lang="en-US" altLang="ko-KR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940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3E1BA-6A12-9FF9-7A41-8773850D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4A4AF-2E17-BDE7-EF04-43DB9B35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/>
              <a:t>가격 데이터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ECD28-895F-B1C8-7912-806BAF71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/>
              <a:t>collect_price_and_volume() </a:t>
            </a:r>
            <a:r>
              <a:rPr lang="ko-KR" altLang="en-US" sz="2200"/>
              <a:t>은 </a:t>
            </a:r>
            <a:r>
              <a:rPr lang="en-US" altLang="ko-KR" sz="2200"/>
              <a:t>yahoo finance</a:t>
            </a:r>
            <a:r>
              <a:rPr lang="ko-KR" altLang="en-US" sz="2200"/>
              <a:t>에서 각 기업들의 일일 수정 종가와 거래량 정보를 다운받습니다</a:t>
            </a:r>
            <a:r>
              <a:rPr lang="en-US" altLang="ko-KR" sz="2200"/>
              <a:t>.</a:t>
            </a:r>
          </a:p>
          <a:p>
            <a:endParaRPr lang="en-US" altLang="ko-KR" sz="2200"/>
          </a:p>
          <a:p>
            <a:r>
              <a:rPr lang="ko-KR" altLang="en-US" sz="2200"/>
              <a:t>정보를 각각 </a:t>
            </a:r>
            <a:r>
              <a:rPr lang="en-US" altLang="ko-KR" sz="2200"/>
              <a:t>price.csv, volume.csv </a:t>
            </a:r>
            <a:r>
              <a:rPr lang="ko-KR" altLang="en-US" sz="2200"/>
              <a:t>파일에 저장합니다</a:t>
            </a:r>
            <a:r>
              <a:rPr lang="en-US" altLang="ko-KR" sz="2200"/>
              <a:t>.</a:t>
            </a:r>
          </a:p>
          <a:p>
            <a:endParaRPr lang="en-US" altLang="ko-KR" sz="2200"/>
          </a:p>
          <a:p>
            <a:r>
              <a:rPr lang="ko-KR" altLang="en-US" sz="2200"/>
              <a:t>각 파일은 날짜</a:t>
            </a:r>
            <a:r>
              <a:rPr lang="en-US" altLang="ko-KR" sz="2200"/>
              <a:t>-</a:t>
            </a:r>
            <a:r>
              <a:rPr lang="ko-KR" altLang="en-US" sz="2200"/>
              <a:t>행</a:t>
            </a:r>
            <a:r>
              <a:rPr lang="en-US" altLang="ko-KR" sz="2200"/>
              <a:t>,  </a:t>
            </a:r>
            <a:r>
              <a:rPr lang="ko-KR" altLang="en-US" sz="2200"/>
              <a:t>종목</a:t>
            </a:r>
            <a:r>
              <a:rPr lang="en-US" altLang="ko-KR" sz="2200"/>
              <a:t>-</a:t>
            </a:r>
            <a:r>
              <a:rPr lang="ko-KR" altLang="en-US" sz="2200"/>
              <a:t>열  형식으로 되어 있습니다</a:t>
            </a:r>
            <a:r>
              <a:rPr lang="en-US" altLang="ko-KR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434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B2FB1-449B-0854-1223-6D4D7338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8C801C-8E4D-9FB3-4A3F-A59A8FF7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/>
              <a:t>결합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DC320-3E7A-5C38-6F42-60508F233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concat_info</a:t>
            </a:r>
            <a:r>
              <a:rPr lang="en-US" altLang="ko-KR" sz="2200" dirty="0"/>
              <a:t> </a:t>
            </a:r>
            <a:r>
              <a:rPr lang="ko-KR" altLang="en-US" sz="2200" dirty="0"/>
              <a:t>함수는 가격 데이터와 재무 데이터를 결합합니다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endParaRPr lang="en-US" altLang="ko-KR" sz="2200" dirty="0"/>
          </a:p>
          <a:p>
            <a:r>
              <a:rPr lang="ko-KR" altLang="en-US" sz="2200" dirty="0"/>
              <a:t>가격 데이터는 매일 업데이트가 되는데 각 날짜별로 현재 접근할 수 있는 재무 데이터 정보를 확인하여 반영해 줍니다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en-US" altLang="ko-KR" sz="2200" dirty="0"/>
              <a:t>: </a:t>
            </a:r>
            <a:r>
              <a:rPr lang="ko-KR" altLang="en-US" sz="2200" dirty="0"/>
              <a:t>재무 데이터의 마감일이 아니라 데이터가 제출되어 시장에 공개된 날짜를 기준으로 해 주어야 합니다</a:t>
            </a:r>
            <a:r>
              <a:rPr lang="en-US" altLang="ko-KR" sz="2200" dirty="0"/>
              <a:t>.</a:t>
            </a:r>
            <a:r>
              <a:rPr lang="ko-KR" altLang="en-US" sz="2200" dirty="0"/>
              <a:t> 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r>
              <a:rPr lang="ko-KR" altLang="en-US" sz="2200" dirty="0"/>
              <a:t>결합된 데이터를</a:t>
            </a:r>
            <a:r>
              <a:rPr lang="en-US" altLang="ko-KR" sz="2200" dirty="0"/>
              <a:t> factors.csv </a:t>
            </a:r>
            <a:r>
              <a:rPr lang="ko-KR" altLang="en-US" sz="2200" dirty="0"/>
              <a:t>파일에 저장합니다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409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33E8F-0FF3-FA05-5D25-DCF6C703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3E3D5B-4B60-5D73-D51F-10C89CDE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/>
              <a:t>간단한 </a:t>
            </a:r>
            <a:r>
              <a:rPr lang="en-US" altLang="ko-KR" sz="4000"/>
              <a:t>factor </a:t>
            </a:r>
            <a:r>
              <a:rPr lang="ko-KR" altLang="en-US" sz="4000"/>
              <a:t>실험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7F12-0C65-1BA5-4938-B6E20D42E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/>
              <a:t>experiments.ipynb</a:t>
            </a:r>
            <a:r>
              <a:rPr lang="en-US" altLang="ko-KR" sz="2200" dirty="0"/>
              <a:t> </a:t>
            </a:r>
            <a:r>
              <a:rPr lang="ko-KR" altLang="en-US" sz="2200" dirty="0"/>
              <a:t>파일은 </a:t>
            </a:r>
            <a:r>
              <a:rPr lang="en-US" altLang="ko-KR" sz="2200" dirty="0"/>
              <a:t>factors.csv</a:t>
            </a:r>
            <a:r>
              <a:rPr lang="ko-KR" altLang="en-US" sz="2200" dirty="0"/>
              <a:t>파일에 저장된 데이터를 바탕으로 간단한 전처리를 진행한 후 간단한 </a:t>
            </a:r>
            <a:r>
              <a:rPr lang="en-US" altLang="ko-KR" sz="2200" dirty="0"/>
              <a:t>factor </a:t>
            </a:r>
            <a:r>
              <a:rPr lang="ko-KR" altLang="en-US" sz="2200" dirty="0"/>
              <a:t>실험을 진행합니다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endParaRPr lang="en-US" altLang="ko-KR" sz="2200" dirty="0"/>
          </a:p>
          <a:p>
            <a:r>
              <a:rPr lang="ko-KR" altLang="en-US" sz="2200" dirty="0"/>
              <a:t>현재 코드에서는 </a:t>
            </a:r>
            <a:r>
              <a:rPr lang="en-US" altLang="ko-KR" sz="2200"/>
              <a:t>pbr</a:t>
            </a:r>
            <a:r>
              <a:rPr lang="en-US" altLang="ko-KR" sz="2200" dirty="0"/>
              <a:t>, per</a:t>
            </a:r>
            <a:r>
              <a:rPr lang="ko-KR" altLang="en-US" sz="2200" dirty="0"/>
              <a:t>를 기준으로 투자를 진행하였을 경우 각 </a:t>
            </a:r>
            <a:r>
              <a:rPr lang="ko-KR" altLang="en-US" sz="2200"/>
              <a:t>팩터</a:t>
            </a:r>
            <a:r>
              <a:rPr lang="en-US" altLang="ko-KR" sz="2200" dirty="0"/>
              <a:t>(</a:t>
            </a:r>
            <a:r>
              <a:rPr lang="en-US" altLang="ko-KR" sz="2200"/>
              <a:t>pbr</a:t>
            </a:r>
            <a:r>
              <a:rPr lang="en-US" altLang="ko-KR" sz="2200" dirty="0"/>
              <a:t>, per)</a:t>
            </a:r>
            <a:r>
              <a:rPr lang="ko-KR" altLang="en-US" sz="2200" dirty="0"/>
              <a:t>값이 높은 종목들과 낮은 종목들로 </a:t>
            </a:r>
            <a:r>
              <a:rPr lang="ko-KR" altLang="en-US" sz="2200"/>
              <a:t>포토폴리오를</a:t>
            </a:r>
            <a:r>
              <a:rPr lang="ko-KR" altLang="en-US" sz="2200" dirty="0"/>
              <a:t> 구성하여 투자했을 경우의 백테스트 수익률을 보여줍니다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endParaRPr lang="en-US" altLang="ko-KR" sz="2200" dirty="0"/>
          </a:p>
          <a:p>
            <a:r>
              <a:rPr lang="en-US" altLang="ko-KR" sz="2200" dirty="0"/>
              <a:t>Rebalancing </a:t>
            </a:r>
            <a:r>
              <a:rPr lang="ko-KR" altLang="en-US" sz="2200" dirty="0"/>
              <a:t>주기는 </a:t>
            </a:r>
            <a:r>
              <a:rPr lang="en-US" altLang="ko-KR" sz="2200" dirty="0"/>
              <a:t>1</a:t>
            </a:r>
            <a:r>
              <a:rPr lang="ko-KR" altLang="en-US" sz="2200" dirty="0"/>
              <a:t>년이며 매 달마다 투자를 진행합니다</a:t>
            </a:r>
            <a:r>
              <a:rPr lang="en-US" altLang="ko-KR" sz="2200" dirty="0"/>
              <a:t>. </a:t>
            </a:r>
            <a:r>
              <a:rPr lang="ko-KR" altLang="en-US" sz="2200" dirty="0"/>
              <a:t>수익률을 기하평균 수익률을 이용하여 계산하여야 합니다</a:t>
            </a:r>
            <a:r>
              <a:rPr lang="en-US" altLang="ko-KR" sz="2200" dirty="0"/>
              <a:t>. (</a:t>
            </a:r>
            <a:r>
              <a:rPr lang="ko-KR" altLang="en-US" sz="2200"/>
              <a:t>메트릭</a:t>
            </a:r>
            <a:r>
              <a:rPr lang="ko-KR" altLang="en-US" sz="2200" dirty="0"/>
              <a:t> 스튜디오 참고</a:t>
            </a:r>
            <a:r>
              <a:rPr lang="en-US" altLang="ko-KR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1602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20409-B2E9-10E3-F389-F439914B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3CC2A5-EBDC-0F7C-5EEE-D2EA0073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/>
              <a:t>포토폴리오 구성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5114C-3A1E-43D9-449D-1320CF37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make_simple_portfolio</a:t>
            </a:r>
            <a:r>
              <a:rPr lang="en-US" altLang="ko-KR" sz="2200" dirty="0"/>
              <a:t> </a:t>
            </a:r>
            <a:r>
              <a:rPr lang="ko-KR" altLang="en-US" sz="2200" dirty="0"/>
              <a:t>함수는 </a:t>
            </a:r>
            <a:r>
              <a:rPr lang="en-US" altLang="ko-KR" sz="2200" dirty="0" err="1"/>
              <a:t>pbr</a:t>
            </a:r>
            <a:r>
              <a:rPr lang="ko-KR" altLang="en-US" sz="2200" dirty="0"/>
              <a:t>을 기준으로 </a:t>
            </a:r>
            <a:r>
              <a:rPr lang="en-US" altLang="ko-KR" sz="2200" dirty="0" err="1"/>
              <a:t>pbr</a:t>
            </a:r>
            <a:r>
              <a:rPr lang="en-US" altLang="ko-KR" sz="2200" dirty="0"/>
              <a:t> </a:t>
            </a:r>
            <a:r>
              <a:rPr lang="ko-KR" altLang="en-US" sz="2200" dirty="0"/>
              <a:t>값이 하위 </a:t>
            </a:r>
            <a:r>
              <a:rPr lang="en-US" altLang="ko-KR" sz="2200" dirty="0"/>
              <a:t>10% </a:t>
            </a:r>
            <a:r>
              <a:rPr lang="ko-KR" altLang="en-US" sz="2200" dirty="0"/>
              <a:t>이하인 종목들을 이용하여 </a:t>
            </a:r>
            <a:r>
              <a:rPr lang="ko-KR" altLang="en-US" sz="2200" dirty="0" err="1"/>
              <a:t>포토폴리오를</a:t>
            </a:r>
            <a:r>
              <a:rPr lang="ko-KR" altLang="en-US" sz="2200" dirty="0"/>
              <a:t> 구성하고 해당 종목들을 알려줍니다</a:t>
            </a:r>
            <a:r>
              <a:rPr lang="en-US" altLang="ko-KR" sz="2200" dirty="0"/>
              <a:t>.</a:t>
            </a:r>
          </a:p>
          <a:p>
            <a:endParaRPr lang="en-US" altLang="ko-KR" sz="2200" dirty="0"/>
          </a:p>
          <a:p>
            <a:endParaRPr lang="en-US" altLang="ko-KR" sz="2200" dirty="0"/>
          </a:p>
          <a:p>
            <a:r>
              <a:rPr lang="ko-KR" altLang="en-US" sz="2200" dirty="0"/>
              <a:t>종목들은 </a:t>
            </a:r>
            <a:r>
              <a:rPr lang="en-US" altLang="ko-KR" sz="2200" dirty="0"/>
              <a:t>ticker_list.txt </a:t>
            </a:r>
            <a:r>
              <a:rPr lang="ko-KR" altLang="en-US" sz="2200" dirty="0"/>
              <a:t>파일로 저장합니다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1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604</TotalTime>
  <Words>559</Words>
  <Application>Microsoft Office PowerPoint</Application>
  <PresentationFormat>와이드스크린</PresentationFormat>
  <Paragraphs>55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Wingdings</vt:lpstr>
      <vt:lpstr>Office 2013 - 2022 테마</vt:lpstr>
      <vt:lpstr>Portfolio maker</vt:lpstr>
      <vt:lpstr>Containing</vt:lpstr>
      <vt:lpstr>Project Overview</vt:lpstr>
      <vt:lpstr>재무 데이터</vt:lpstr>
      <vt:lpstr>재무 데이터</vt:lpstr>
      <vt:lpstr>재무 데이터 처리 과정</vt:lpstr>
      <vt:lpstr>재무 데이터</vt:lpstr>
      <vt:lpstr>재무 데이터</vt:lpstr>
      <vt:lpstr>가격 데이터</vt:lpstr>
      <vt:lpstr>결합</vt:lpstr>
      <vt:lpstr>간단한 factor 실험</vt:lpstr>
      <vt:lpstr>포토폴리오 구성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구한빈</dc:creator>
  <cp:lastModifiedBy>구한빈</cp:lastModifiedBy>
  <cp:revision>167</cp:revision>
  <dcterms:created xsi:type="dcterms:W3CDTF">2024-07-23T01:35:39Z</dcterms:created>
  <dcterms:modified xsi:type="dcterms:W3CDTF">2025-12-31T06:40:16Z</dcterms:modified>
</cp:coreProperties>
</file>